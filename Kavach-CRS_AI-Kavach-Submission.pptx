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VACH_BG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1.png"/><Relationship Id="rId7" Type="http://schemas.openxmlformats.org/officeDocument/2006/relationships/image" Target="../media/image-3-2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0" cy="914400"/>
          </a:xfrm>
          <a:prstGeom prst="ellipse">
            <a:avLst/>
          </a:prstGeom>
          <a:solidFill>
            <a:srgbClr val="141B2A"/>
          </a:solidFill>
          <a:ln/>
        </p:spPr>
      </p:sp>
      <p:pic>
        <p:nvPicPr>
          <p:cNvPr id="3" name="Image 0" descr="/home/claude/army_hack_work/kavach-crs/deck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694944" cy="6949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9164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KAVACH — DEFENSIVE CYBER-REASONING CHALLENGE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691640" y="841248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Kavach-CRS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14813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A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cyber-reasoning system that finds a vulnerability, patches it, and proves the fix holds — offline, on defence infrastructure.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5349240" cy="3794760"/>
          </a:xfrm>
          <a:prstGeom prst="roundRect">
            <a:avLst>
              <a:gd name="adj" fmla="val 1928"/>
            </a:avLst>
          </a:prstGeom>
          <a:solidFill>
            <a:srgbClr val="141B2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926080"/>
            <a:ext cx="4754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networks run large, long-lived codebases (legacy + COTS + custom) with a constant drip of new CVEs and in-house bugs.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→ patch → regression cycles take days to weeks per finding — adversaries automate; defenders mostly don't.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/ air-gapped networks can't lean on cloud SaaS scanners or hosted-LLM copilots — most "AI AppSec" tools assume the internet.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capacity does not scale with codebase size or with the rate of newly disclosed exploitation techniques.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80760" y="2331720"/>
            <a:ext cx="5559552" cy="3794760"/>
          </a:xfrm>
          <a:prstGeom prst="roundRect">
            <a:avLst>
              <a:gd name="adj" fmla="val 1928"/>
            </a:avLst>
          </a:prstGeom>
          <a:solidFill>
            <a:srgbClr val="141B2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926080"/>
            <a:ext cx="4937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loop, autonomously.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Kavach-CRS runs a continuous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→ Reason → Patch → Verify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loop over a codebase: industry SAST + a mutation fuzzer surface real, exploitable bugs; a patch-synthesis engine proposes the smallest safe fix; the fix is applied with a full audit diff; and — critically — the fix is only accepted once re-scanning, the full regression suite, and (for memory bugs) replaying the exact crashing input all confirm it holds.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A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runs with zero external network calls, so the same pipeline that wins this hackathon can run inside a disconnected operational environment.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KAVACH-CRS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Four-stage reasoning loop, proven at every step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743200" cy="4526280"/>
          </a:xfrm>
          <a:prstGeom prst="roundRect">
            <a:avLst>
              <a:gd name="adj" fmla="val 2667"/>
            </a:avLst>
          </a:prstGeom>
          <a:solidFill>
            <a:srgbClr val="141B2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64792"/>
            <a:ext cx="658368" cy="658368"/>
          </a:xfrm>
          <a:prstGeom prst="ellipse">
            <a:avLst/>
          </a:prstGeom>
          <a:solidFill>
            <a:srgbClr val="101726"/>
          </a:solidFill>
          <a:ln/>
        </p:spPr>
      </p:sp>
      <p:pic>
        <p:nvPicPr>
          <p:cNvPr id="6" name="Image 0" descr="/home/claude/army_hack_work/kavach-crs/deck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244" y="1843796"/>
            <a:ext cx="500360" cy="500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32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DETECT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0720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real, exploitable findings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520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A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offline SAST (Bandit-class for source, Flawfinder-class for native code) plus a custom AST taint engine for gaps off-the-shelf tools miss (hardcoded secrets, path traversal). A mutation fuzzer grows and bisects inputs against native binaries to confirm memory-safety bugs by causing a real crash, not just a heuristic warning.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3310128" y="3689604"/>
            <a:ext cx="219456" cy="164592"/>
          </a:xfrm>
          <a:prstGeom prst="rightArrow">
            <a:avLst/>
          </a:prstGeom>
          <a:solidFill>
            <a:srgbClr val="C9A15A"/>
          </a:solidFill>
          <a:ln/>
        </p:spPr>
      </p:sp>
      <p:sp>
        <p:nvSpPr>
          <p:cNvPr id="11" name="Shape 8"/>
          <p:cNvSpPr/>
          <p:nvPr/>
        </p:nvSpPr>
        <p:spPr>
          <a:xfrm>
            <a:off x="3493008" y="1508760"/>
            <a:ext cx="2743200" cy="4526280"/>
          </a:xfrm>
          <a:prstGeom prst="roundRect">
            <a:avLst>
              <a:gd name="adj" fmla="val 2667"/>
            </a:avLst>
          </a:prstGeom>
          <a:solidFill>
            <a:srgbClr val="141B2A"/>
          </a:solidFill>
          <a:ln/>
        </p:spPr>
      </p:sp>
      <p:sp>
        <p:nvSpPr>
          <p:cNvPr id="12" name="Shape 9"/>
          <p:cNvSpPr/>
          <p:nvPr/>
        </p:nvSpPr>
        <p:spPr>
          <a:xfrm>
            <a:off x="3721608" y="1764792"/>
            <a:ext cx="658368" cy="658368"/>
          </a:xfrm>
          <a:prstGeom prst="ellipse">
            <a:avLst/>
          </a:prstGeom>
          <a:solidFill>
            <a:srgbClr val="101726"/>
          </a:solidFill>
          <a:ln/>
        </p:spPr>
      </p:sp>
      <p:pic>
        <p:nvPicPr>
          <p:cNvPr id="13" name="Image 1" descr="/home/claude/army_hack_work/kavach-crs/deck/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612" y="1843796"/>
            <a:ext cx="500360" cy="5003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721608" y="2532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REASON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3721608" y="280720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Synthesize the smallest safe patch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721608" y="3520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A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finding is routed by CWE class to a patch-synthesis engine that proposes a minimal, behavior-preserving fix with a written rationale. The backend is pluggable: a hosted LLM when networked, or a local fine-tuned / quantized model plus deterministic secure-coding templates for air-gapped operation.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6254496" y="3689604"/>
            <a:ext cx="219456" cy="164592"/>
          </a:xfrm>
          <a:prstGeom prst="rightArrow">
            <a:avLst/>
          </a:prstGeom>
          <a:solidFill>
            <a:srgbClr val="C9A15A"/>
          </a:solidFill>
          <a:ln/>
        </p:spPr>
      </p:sp>
      <p:sp>
        <p:nvSpPr>
          <p:cNvPr id="18" name="Shape 14"/>
          <p:cNvSpPr/>
          <p:nvPr/>
        </p:nvSpPr>
        <p:spPr>
          <a:xfrm>
            <a:off x="6437376" y="1508760"/>
            <a:ext cx="2743200" cy="4526280"/>
          </a:xfrm>
          <a:prstGeom prst="roundRect">
            <a:avLst>
              <a:gd name="adj" fmla="val 2667"/>
            </a:avLst>
          </a:prstGeom>
          <a:solidFill>
            <a:srgbClr val="141B2A"/>
          </a:solidFill>
          <a:ln/>
        </p:spPr>
      </p:sp>
      <p:sp>
        <p:nvSpPr>
          <p:cNvPr id="19" name="Shape 15"/>
          <p:cNvSpPr/>
          <p:nvPr/>
        </p:nvSpPr>
        <p:spPr>
          <a:xfrm>
            <a:off x="6665976" y="1764792"/>
            <a:ext cx="658368" cy="658368"/>
          </a:xfrm>
          <a:prstGeom prst="ellipse">
            <a:avLst/>
          </a:prstGeom>
          <a:solidFill>
            <a:srgbClr val="101726"/>
          </a:solidFill>
          <a:ln/>
        </p:spPr>
      </p:sp>
      <p:pic>
        <p:nvPicPr>
          <p:cNvPr id="20" name="Image 2" descr="/home/claude/army_hack_work/kavach-crs/deck/icons/to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980" y="1843796"/>
            <a:ext cx="500360" cy="5003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665976" y="2532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PATCH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6665976" y="280720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with a full audit trail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665976" y="3520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A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fix is written back as a real unified diff, with a timestamped backup of the original file kept automatically. Nothing is silently overwritten — every change is attributable and reversible.</a:t>
            </a:r>
            <a:endParaRPr lang="en-US" sz="1080" dirty="0"/>
          </a:p>
        </p:txBody>
      </p:sp>
      <p:sp>
        <p:nvSpPr>
          <p:cNvPr id="24" name="Shape 19"/>
          <p:cNvSpPr/>
          <p:nvPr/>
        </p:nvSpPr>
        <p:spPr>
          <a:xfrm>
            <a:off x="9198864" y="3689604"/>
            <a:ext cx="219456" cy="164592"/>
          </a:xfrm>
          <a:prstGeom prst="rightArrow">
            <a:avLst/>
          </a:prstGeom>
          <a:solidFill>
            <a:srgbClr val="C9A15A"/>
          </a:solidFill>
          <a:ln/>
        </p:spPr>
      </p:sp>
      <p:sp>
        <p:nvSpPr>
          <p:cNvPr id="25" name="Shape 20"/>
          <p:cNvSpPr/>
          <p:nvPr/>
        </p:nvSpPr>
        <p:spPr>
          <a:xfrm>
            <a:off x="9381744" y="1508760"/>
            <a:ext cx="2743200" cy="4526280"/>
          </a:xfrm>
          <a:prstGeom prst="roundRect">
            <a:avLst>
              <a:gd name="adj" fmla="val 2667"/>
            </a:avLst>
          </a:prstGeom>
          <a:solidFill>
            <a:srgbClr val="141B2A"/>
          </a:solidFill>
          <a:ln/>
        </p:spPr>
      </p:sp>
      <p:sp>
        <p:nvSpPr>
          <p:cNvPr id="26" name="Shape 21"/>
          <p:cNvSpPr/>
          <p:nvPr/>
        </p:nvSpPr>
        <p:spPr>
          <a:xfrm>
            <a:off x="9610344" y="1764792"/>
            <a:ext cx="658368" cy="658368"/>
          </a:xfrm>
          <a:prstGeom prst="ellipse">
            <a:avLst/>
          </a:prstGeom>
          <a:solidFill>
            <a:srgbClr val="101726"/>
          </a:solidFill>
          <a:ln/>
        </p:spPr>
      </p:sp>
      <p:pic>
        <p:nvPicPr>
          <p:cNvPr id="27" name="Image 3" descr="/home/claude/army_hack_work/kavach-crs/deck/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9348" y="1843796"/>
            <a:ext cx="500360" cy="50036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610344" y="2532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VERIFY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9610344" y="280720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the fix holds, or roll back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9610344" y="3520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A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full static/fuzz detector suite, re-run the entire functional regression test suite, and (for the crash class) replay the exact fuzzer-minimized crashing input against the rebuilt binary. A patch is accepted only if the vulnerability class is gone and zero previously-passing tests broke — otherwise it's rolled back automatically.</a:t>
            </a:r>
            <a:endParaRPr lang="en-US" sz="108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strategy: </a:t>
            </a:r>
            <a:pPr indent="0" marL="0">
              <a:buNone/>
            </a:pPr>
            <a:r>
              <a:rPr lang="en-US" sz="11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runs unattended from a single CLI command; every run emits a JSON ledger and a shareable HTML forensic report.</a:t>
            </a:r>
            <a:endParaRPr lang="en-US" sz="1150" dirty="0"/>
          </a:p>
        </p:txBody>
      </p:sp>
      <p:sp>
        <p:nvSpPr>
          <p:cNvPr id="32" name="Text 26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KAVACH-CRS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flow &amp; technology stack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96112" y="1481328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141B2A"/>
          </a:solidFill>
          <a:ln/>
        </p:spPr>
      </p:sp>
      <p:sp>
        <p:nvSpPr>
          <p:cNvPr id="5" name="Shape 3"/>
          <p:cNvSpPr/>
          <p:nvPr/>
        </p:nvSpPr>
        <p:spPr>
          <a:xfrm>
            <a:off x="1540764" y="1645920"/>
            <a:ext cx="585216" cy="585216"/>
          </a:xfrm>
          <a:prstGeom prst="ellipse">
            <a:avLst/>
          </a:prstGeom>
          <a:solidFill>
            <a:srgbClr val="101726"/>
          </a:solidFill>
          <a:ln/>
        </p:spPr>
      </p:sp>
      <p:pic>
        <p:nvPicPr>
          <p:cNvPr id="6" name="Image 0" descr="/home/claude/army_hack_work/kavach-crs/deck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0990" y="1716146"/>
            <a:ext cx="444764" cy="4447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96112" y="23042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5603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+ fuzz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98064" y="2107692"/>
            <a:ext cx="201168" cy="164592"/>
          </a:xfrm>
          <a:prstGeom prst="rightArrow">
            <a:avLst/>
          </a:prstGeom>
          <a:solidFill>
            <a:srgbClr val="C9A15A"/>
          </a:solidFill>
          <a:ln/>
        </p:spPr>
      </p:sp>
      <p:sp>
        <p:nvSpPr>
          <p:cNvPr id="10" name="Shape 7"/>
          <p:cNvSpPr/>
          <p:nvPr/>
        </p:nvSpPr>
        <p:spPr>
          <a:xfrm>
            <a:off x="3026664" y="1481328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141B2A"/>
          </a:solidFill>
          <a:ln/>
        </p:spPr>
      </p:sp>
      <p:sp>
        <p:nvSpPr>
          <p:cNvPr id="11" name="Shape 8"/>
          <p:cNvSpPr/>
          <p:nvPr/>
        </p:nvSpPr>
        <p:spPr>
          <a:xfrm>
            <a:off x="3671316" y="1645920"/>
            <a:ext cx="585216" cy="585216"/>
          </a:xfrm>
          <a:prstGeom prst="ellipse">
            <a:avLst/>
          </a:prstGeom>
          <a:solidFill>
            <a:srgbClr val="101726"/>
          </a:solidFill>
          <a:ln/>
        </p:spPr>
      </p:sp>
      <p:pic>
        <p:nvPicPr>
          <p:cNvPr id="12" name="Image 1" descr="/home/claude/army_hack_work/kavach-crs/deck/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542" y="1716146"/>
            <a:ext cx="444764" cy="4447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26664" y="23042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3026664" y="25603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synth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928616" y="2107692"/>
            <a:ext cx="201168" cy="164592"/>
          </a:xfrm>
          <a:prstGeom prst="rightArrow">
            <a:avLst/>
          </a:prstGeom>
          <a:solidFill>
            <a:srgbClr val="C9A15A"/>
          </a:solidFill>
          <a:ln/>
        </p:spPr>
      </p:sp>
      <p:sp>
        <p:nvSpPr>
          <p:cNvPr id="16" name="Shape 12"/>
          <p:cNvSpPr/>
          <p:nvPr/>
        </p:nvSpPr>
        <p:spPr>
          <a:xfrm>
            <a:off x="5157216" y="1481328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141B2A"/>
          </a:solidFill>
          <a:ln/>
        </p:spPr>
      </p:sp>
      <p:sp>
        <p:nvSpPr>
          <p:cNvPr id="17" name="Shape 13"/>
          <p:cNvSpPr/>
          <p:nvPr/>
        </p:nvSpPr>
        <p:spPr>
          <a:xfrm>
            <a:off x="5801868" y="1645920"/>
            <a:ext cx="585216" cy="585216"/>
          </a:xfrm>
          <a:prstGeom prst="ellipse">
            <a:avLst/>
          </a:prstGeom>
          <a:solidFill>
            <a:srgbClr val="101726"/>
          </a:solidFill>
          <a:ln/>
        </p:spPr>
      </p:sp>
      <p:pic>
        <p:nvPicPr>
          <p:cNvPr id="18" name="Image 2" descr="/home/claude/army_hack_work/kavach-crs/deck/icons/to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094" y="1716146"/>
            <a:ext cx="444764" cy="4447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57216" y="23042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5157216" y="25603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+ backup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7059168" y="2107692"/>
            <a:ext cx="201168" cy="164592"/>
          </a:xfrm>
          <a:prstGeom prst="rightArrow">
            <a:avLst/>
          </a:prstGeom>
          <a:solidFill>
            <a:srgbClr val="C9A15A"/>
          </a:solidFill>
          <a:ln/>
        </p:spPr>
      </p:sp>
      <p:sp>
        <p:nvSpPr>
          <p:cNvPr id="22" name="Shape 17"/>
          <p:cNvSpPr/>
          <p:nvPr/>
        </p:nvSpPr>
        <p:spPr>
          <a:xfrm>
            <a:off x="7287768" y="1481328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141B2A"/>
          </a:solidFill>
          <a:ln/>
        </p:spPr>
      </p:sp>
      <p:sp>
        <p:nvSpPr>
          <p:cNvPr id="23" name="Shape 18"/>
          <p:cNvSpPr/>
          <p:nvPr/>
        </p:nvSpPr>
        <p:spPr>
          <a:xfrm>
            <a:off x="7932420" y="1645920"/>
            <a:ext cx="585216" cy="585216"/>
          </a:xfrm>
          <a:prstGeom prst="ellipse">
            <a:avLst/>
          </a:prstGeom>
          <a:solidFill>
            <a:srgbClr val="101726"/>
          </a:solidFill>
          <a:ln/>
        </p:spPr>
      </p:sp>
      <p:pic>
        <p:nvPicPr>
          <p:cNvPr id="24" name="Image 3" descr="/home/claude/army_hack_work/kavach-crs/deck/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646" y="1716146"/>
            <a:ext cx="444764" cy="44476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287768" y="23042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7287768" y="25603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re-scan + tests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9189720" y="2107692"/>
            <a:ext cx="201168" cy="164592"/>
          </a:xfrm>
          <a:prstGeom prst="rightArrow">
            <a:avLst/>
          </a:prstGeom>
          <a:solidFill>
            <a:srgbClr val="C9A15A"/>
          </a:solidFill>
          <a:ln/>
        </p:spPr>
      </p:sp>
      <p:sp>
        <p:nvSpPr>
          <p:cNvPr id="28" name="Shape 22"/>
          <p:cNvSpPr/>
          <p:nvPr/>
        </p:nvSpPr>
        <p:spPr>
          <a:xfrm>
            <a:off x="9418320" y="1481328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141B2A"/>
          </a:solidFill>
          <a:ln/>
        </p:spPr>
      </p:sp>
      <p:sp>
        <p:nvSpPr>
          <p:cNvPr id="29" name="Shape 23"/>
          <p:cNvSpPr/>
          <p:nvPr/>
        </p:nvSpPr>
        <p:spPr>
          <a:xfrm>
            <a:off x="10062972" y="1645920"/>
            <a:ext cx="585216" cy="585216"/>
          </a:xfrm>
          <a:prstGeom prst="ellipse">
            <a:avLst/>
          </a:prstGeom>
          <a:solidFill>
            <a:srgbClr val="101726"/>
          </a:solidFill>
          <a:ln/>
        </p:spPr>
      </p:sp>
      <p:pic>
        <p:nvPicPr>
          <p:cNvPr id="30" name="Image 4" descr="/home/claude/army_hack_work/kavach-crs/deck/icons/filetex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3198" y="1716146"/>
            <a:ext cx="444764" cy="44476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418320" y="23042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9418320" y="25603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ledger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 flipV="1">
            <a:off x="1216152" y="2971800"/>
            <a:ext cx="9756648" cy="365760"/>
          </a:xfrm>
          <a:prstGeom prst="bentConnector3">
            <a:avLst/>
          </a:prstGeom>
          <a:noFill/>
          <a:ln w="15875">
            <a:solidFill>
              <a:srgbClr val="A9C4E0"/>
            </a:solidFill>
            <a:prstDash val="dash"/>
            <a:tailEnd type="triangle"/>
          </a:ln>
        </p:spPr>
      </p:sp>
      <p:sp>
        <p:nvSpPr>
          <p:cNvPr id="34" name="Text 27"/>
          <p:cNvSpPr txBox="1"/>
          <p:nvPr/>
        </p:nvSpPr>
        <p:spPr>
          <a:xfrm>
            <a:off x="896112" y="3337560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re-scan on a schedule / on new commits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548640" y="4160520"/>
            <a:ext cx="2770632" cy="2011680"/>
          </a:xfrm>
          <a:prstGeom prst="roundRect">
            <a:avLst>
              <a:gd name="adj" fmla="val 3636"/>
            </a:avLst>
          </a:prstGeom>
          <a:solidFill>
            <a:srgbClr val="141B2A"/>
          </a:solidFill>
          <a:ln/>
        </p:spPr>
      </p:sp>
      <p:sp>
        <p:nvSpPr>
          <p:cNvPr id="36" name="Shape 29"/>
          <p:cNvSpPr/>
          <p:nvPr/>
        </p:nvSpPr>
        <p:spPr>
          <a:xfrm>
            <a:off x="749808" y="4361688"/>
            <a:ext cx="457200" cy="457200"/>
          </a:xfrm>
          <a:prstGeom prst="ellipse">
            <a:avLst/>
          </a:prstGeom>
          <a:solidFill>
            <a:srgbClr val="101726"/>
          </a:solidFill>
          <a:ln/>
        </p:spPr>
      </p:sp>
      <p:pic>
        <p:nvPicPr>
          <p:cNvPr id="37" name="Image 5" descr="/home/claude/army_hack_work/kavach-crs/deck/icons/sear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4416552"/>
            <a:ext cx="347472" cy="34747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325880" y="4416552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1350" dirty="0"/>
          </a:p>
        </p:txBody>
      </p:sp>
      <p:sp>
        <p:nvSpPr>
          <p:cNvPr id="39" name="Text 31"/>
          <p:cNvSpPr txBox="1"/>
          <p:nvPr/>
        </p:nvSpPr>
        <p:spPr>
          <a:xfrm>
            <a:off x="749808" y="4965192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Bandit-class Python SAST · Flawfinder-class C/C++ SAST · custom AST taint rules · GCC-built mutation fuzzer w/ crash bisection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3465576" y="4160520"/>
            <a:ext cx="2770632" cy="2011680"/>
          </a:xfrm>
          <a:prstGeom prst="roundRect">
            <a:avLst>
              <a:gd name="adj" fmla="val 3636"/>
            </a:avLst>
          </a:prstGeom>
          <a:solidFill>
            <a:srgbClr val="141B2A"/>
          </a:solidFill>
          <a:ln/>
        </p:spPr>
      </p:sp>
      <p:sp>
        <p:nvSpPr>
          <p:cNvPr id="41" name="Shape 33"/>
          <p:cNvSpPr/>
          <p:nvPr/>
        </p:nvSpPr>
        <p:spPr>
          <a:xfrm>
            <a:off x="3666744" y="4361688"/>
            <a:ext cx="457200" cy="457200"/>
          </a:xfrm>
          <a:prstGeom prst="ellipse">
            <a:avLst/>
          </a:prstGeom>
          <a:solidFill>
            <a:srgbClr val="101726"/>
          </a:solidFill>
          <a:ln/>
        </p:spPr>
      </p:sp>
      <p:pic>
        <p:nvPicPr>
          <p:cNvPr id="42" name="Image 6" descr="/home/claude/army_hack_work/kavach-crs/deck/icons/cpu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1608" y="4416552"/>
            <a:ext cx="347472" cy="347472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4242816" y="4416552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</a:t>
            </a:r>
            <a:endParaRPr lang="en-US" sz="1350" dirty="0"/>
          </a:p>
        </p:txBody>
      </p:sp>
      <p:sp>
        <p:nvSpPr>
          <p:cNvPr id="44" name="Text 35"/>
          <p:cNvSpPr txBox="1"/>
          <p:nvPr/>
        </p:nvSpPr>
        <p:spPr>
          <a:xfrm>
            <a:off x="3666744" y="4965192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backend: hosted LLM (Claude) when networked · local fine-tuned / quantized model for air-gapped ops · deterministic CWE-template fallback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6382512" y="4160520"/>
            <a:ext cx="2770632" cy="2011680"/>
          </a:xfrm>
          <a:prstGeom prst="roundRect">
            <a:avLst>
              <a:gd name="adj" fmla="val 3636"/>
            </a:avLst>
          </a:prstGeom>
          <a:solidFill>
            <a:srgbClr val="141B2A"/>
          </a:solidFill>
          <a:ln/>
        </p:spPr>
      </p:sp>
      <p:sp>
        <p:nvSpPr>
          <p:cNvPr id="46" name="Shape 37"/>
          <p:cNvSpPr/>
          <p:nvPr/>
        </p:nvSpPr>
        <p:spPr>
          <a:xfrm>
            <a:off x="6583680" y="4361688"/>
            <a:ext cx="457200" cy="457200"/>
          </a:xfrm>
          <a:prstGeom prst="ellipse">
            <a:avLst/>
          </a:prstGeom>
          <a:solidFill>
            <a:srgbClr val="101726"/>
          </a:solidFill>
          <a:ln/>
        </p:spPr>
      </p:sp>
      <p:pic>
        <p:nvPicPr>
          <p:cNvPr id="47" name="Image 7" descr="/home/claude/army_hack_work/kavach-crs/deck/icons/layer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544" y="4416552"/>
            <a:ext cx="347472" cy="347472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7159752" y="4416552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 &amp; Verify</a:t>
            </a:r>
            <a:endParaRPr lang="en-US" sz="1350" dirty="0"/>
          </a:p>
        </p:txBody>
      </p:sp>
      <p:sp>
        <p:nvSpPr>
          <p:cNvPr id="49" name="Text 39"/>
          <p:cNvSpPr txBox="1"/>
          <p:nvPr/>
        </p:nvSpPr>
        <p:spPr>
          <a:xfrm>
            <a:off x="6583680" y="4965192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diff/patch engine, timestamped backups · pytest regression harness · JUnit-parsed per-test tracking · crash-replay verifier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9299448" y="4160520"/>
            <a:ext cx="2770632" cy="2011680"/>
          </a:xfrm>
          <a:prstGeom prst="roundRect">
            <a:avLst>
              <a:gd name="adj" fmla="val 3636"/>
            </a:avLst>
          </a:prstGeom>
          <a:solidFill>
            <a:srgbClr val="141B2A"/>
          </a:solidFill>
          <a:ln/>
        </p:spPr>
      </p:sp>
      <p:sp>
        <p:nvSpPr>
          <p:cNvPr id="51" name="Shape 41"/>
          <p:cNvSpPr/>
          <p:nvPr/>
        </p:nvSpPr>
        <p:spPr>
          <a:xfrm>
            <a:off x="9500616" y="4361688"/>
            <a:ext cx="457200" cy="457200"/>
          </a:xfrm>
          <a:prstGeom prst="ellipse">
            <a:avLst/>
          </a:prstGeom>
          <a:solidFill>
            <a:srgbClr val="101726"/>
          </a:solidFill>
          <a:ln/>
        </p:spPr>
      </p:sp>
      <p:pic>
        <p:nvPicPr>
          <p:cNvPr id="52" name="Image 8" descr="/home/claude/army_hack_work/kavach-crs/deck/icons/termin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5480" y="4416552"/>
            <a:ext cx="347472" cy="347472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10076688" y="4416552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1350" dirty="0"/>
          </a:p>
        </p:txBody>
      </p:sp>
      <p:sp>
        <p:nvSpPr>
          <p:cNvPr id="54" name="Text 43"/>
          <p:cNvSpPr txBox="1"/>
          <p:nvPr/>
        </p:nvSpPr>
        <p:spPr>
          <a:xfrm>
            <a:off x="9500616" y="4965192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CLI · JSON run ledger · self-contained HTML report generator · containerizable, zero mandatory network calls</a:t>
            </a:r>
            <a:endParaRPr lang="en-US" sz="1000" dirty="0"/>
          </a:p>
        </p:txBody>
      </p:sp>
      <p:sp>
        <p:nvSpPr>
          <p:cNvPr id="55" name="Text 44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1000" dirty="0"/>
          </a:p>
        </p:txBody>
      </p:sp>
      <p:sp>
        <p:nvSpPr>
          <p:cNvPr id="56" name="Text 45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KAVACH-CRS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this defensible, not just impressive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141B2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09928"/>
            <a:ext cx="530352" cy="530352"/>
          </a:xfrm>
          <a:prstGeom prst="ellipse">
            <a:avLst/>
          </a:prstGeom>
          <a:solidFill>
            <a:srgbClr val="101726"/>
          </a:solidFill>
          <a:ln/>
        </p:spPr>
      </p:sp>
      <p:pic>
        <p:nvPicPr>
          <p:cNvPr id="6" name="Image 0" descr="/home/claude/army_hack_work/kavach-crs/deck/icons/wifi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450" y="1773570"/>
            <a:ext cx="403068" cy="4030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377440"/>
            <a:ext cx="3255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Air-gap capable by design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880360"/>
            <a:ext cx="3255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A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detector, the fallback reasoning engine, and the verifier run with zero external network calls — a requirement most “AI AppSec” tools quietly assume away, and a hard requirement for classified networks.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370832" y="150876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141B2A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1709928"/>
            <a:ext cx="530352" cy="530352"/>
          </a:xfrm>
          <a:prstGeom prst="ellipse">
            <a:avLst/>
          </a:prstGeom>
          <a:solidFill>
            <a:srgbClr val="101726"/>
          </a:solidFill>
          <a:ln/>
        </p:spPr>
      </p:sp>
      <p:pic>
        <p:nvPicPr>
          <p:cNvPr id="11" name="Image 1" descr="/home/claude/army_hack_work/kavach-crs/deck/icons/refreshc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642" y="1773570"/>
            <a:ext cx="403068" cy="4030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377440"/>
            <a:ext cx="3255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Closes the loop, doesn't just suggest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880360"/>
            <a:ext cx="3255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A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stop at “here's a possible fix.” Kavach-CRS applies the patch and then re-proves it: re-scan, full regression suite, and exact crash-input replay — with automatic rollback if any check fails.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8193024" y="150876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141B2A"/>
          </a:solidFill>
          <a:ln/>
        </p:spPr>
      </p:sp>
      <p:sp>
        <p:nvSpPr>
          <p:cNvPr id="15" name="Shape 11"/>
          <p:cNvSpPr/>
          <p:nvPr/>
        </p:nvSpPr>
        <p:spPr>
          <a:xfrm>
            <a:off x="8394192" y="1709928"/>
            <a:ext cx="530352" cy="530352"/>
          </a:xfrm>
          <a:prstGeom prst="ellipse">
            <a:avLst/>
          </a:prstGeom>
          <a:solidFill>
            <a:srgbClr val="101726"/>
          </a:solidFill>
          <a:ln/>
        </p:spPr>
      </p:sp>
      <p:pic>
        <p:nvPicPr>
          <p:cNvPr id="16" name="Image 2" descr="/home/claude/army_hack_work/kavach-crs/deck/icons/gitmer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834" y="1773570"/>
            <a:ext cx="403068" cy="40306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94192" y="2377440"/>
            <a:ext cx="3255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detection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94192" y="2880360"/>
            <a:ext cx="3255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A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SAST + a custom AST taint engine + a real mutation fuzzer, so it catches both textbook lint patterns and the memory-safety bugs that only show up when you actually run the code.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548640" y="4005072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141B2A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4206240"/>
            <a:ext cx="530352" cy="530352"/>
          </a:xfrm>
          <a:prstGeom prst="ellipse">
            <a:avLst/>
          </a:prstGeom>
          <a:solidFill>
            <a:srgbClr val="101726"/>
          </a:solidFill>
          <a:ln/>
        </p:spPr>
      </p:sp>
      <p:pic>
        <p:nvPicPr>
          <p:cNvPr id="21" name="Image 3" descr="/home/claude/army_hack_work/kavach-crs/deck/icons/filetex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50" y="4269882"/>
            <a:ext cx="403068" cy="40306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" y="4873752"/>
            <a:ext cx="3255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audit, not just a demo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5376672"/>
            <a:ext cx="3255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A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accepted fix ships with a unified diff, a plain-language rationale, and machine-checkable verification evidence — the exact trail a defence audit or ATO process needs.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4370832" y="4005072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141B2A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2000" y="4206240"/>
            <a:ext cx="530352" cy="530352"/>
          </a:xfrm>
          <a:prstGeom prst="ellipse">
            <a:avLst/>
          </a:prstGeom>
          <a:solidFill>
            <a:srgbClr val="101726"/>
          </a:solidFill>
          <a:ln/>
        </p:spPr>
      </p:sp>
      <p:pic>
        <p:nvPicPr>
          <p:cNvPr id="26" name="Image 4" descr="/home/claude/army_hack_work/kavach-crs/deck/icons/cp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642" y="4269882"/>
            <a:ext cx="403068" cy="40306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72000" y="4873752"/>
            <a:ext cx="3255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Pluggable reasoning backend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5376672"/>
            <a:ext cx="3255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A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orchestration code targets a hosted LLM in a connected lab environment or a local fine-tuned model in a disconnected field deployment — no re-architecture to go from demo to classified network.</a:t>
            </a:r>
            <a:endParaRPr lang="en-US" sz="1030" dirty="0"/>
          </a:p>
        </p:txBody>
      </p:sp>
      <p:sp>
        <p:nvSpPr>
          <p:cNvPr id="29" name="Shape 22"/>
          <p:cNvSpPr/>
          <p:nvPr/>
        </p:nvSpPr>
        <p:spPr>
          <a:xfrm>
            <a:off x="8193024" y="4005072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141B2A"/>
          </a:solidFill>
          <a:ln/>
        </p:spPr>
      </p:sp>
      <p:sp>
        <p:nvSpPr>
          <p:cNvPr id="30" name="Shape 23"/>
          <p:cNvSpPr/>
          <p:nvPr/>
        </p:nvSpPr>
        <p:spPr>
          <a:xfrm>
            <a:off x="8394192" y="4206240"/>
            <a:ext cx="530352" cy="530352"/>
          </a:xfrm>
          <a:prstGeom prst="ellipse">
            <a:avLst/>
          </a:prstGeom>
          <a:solidFill>
            <a:srgbClr val="101726"/>
          </a:solidFill>
          <a:ln/>
        </p:spPr>
      </p:sp>
      <p:pic>
        <p:nvPicPr>
          <p:cNvPr id="31" name="Image 5" descr="/home/claude/army_hack_work/kavach-crs/deck/icons/aw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7834" y="4269882"/>
            <a:ext cx="403068" cy="40306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94192" y="4873752"/>
            <a:ext cx="3255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discipline, not false confidence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394192" y="5376672"/>
            <a:ext cx="3255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A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low-severity advisory findings are surfaced and explained rather than hidden — the system reports what it fixed, what it didn't, and why, which is what earns operator trust.</a:t>
            </a:r>
            <a:endParaRPr lang="en-US" sz="1030" dirty="0"/>
          </a:p>
        </p:txBody>
      </p:sp>
      <p:sp>
        <p:nvSpPr>
          <p:cNvPr id="34" name="Text 26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KAVACH-CRS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submitting — measured, not claimed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141B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91056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3A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detected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CWE classes)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98064" y="1481328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141B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98064" y="1591056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A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889504" y="2194560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autonomously patched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verified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47488" y="1481328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141B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47488" y="1591056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A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9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138928" y="2194560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tests passing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fix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96912" y="1481328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141B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96912" y="1591056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A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388352" y="2194560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high/critical findings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546336" y="1481328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141B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546336" y="1591056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C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~15s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637776" y="2194560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detect→reason→patch→verify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loop, end to end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743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 from an actual run of the working CLI prototype against the included sample-vulnerable target app (SQL injection, command injection, path traversal, hardcoded credential, stack buffer overflow).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5394960" cy="2880360"/>
          </a:xfrm>
          <a:prstGeom prst="roundRect">
            <a:avLst>
              <a:gd name="adj" fmla="val 2540"/>
            </a:avLst>
          </a:prstGeom>
          <a:solidFill>
            <a:srgbClr val="141B2A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3456432"/>
            <a:ext cx="502920" cy="502920"/>
          </a:xfrm>
          <a:prstGeom prst="ellipse">
            <a:avLst/>
          </a:prstGeom>
          <a:solidFill>
            <a:srgbClr val="101726"/>
          </a:solidFill>
          <a:ln/>
        </p:spPr>
      </p:sp>
      <p:pic>
        <p:nvPicPr>
          <p:cNvPr id="22" name="Image 0" descr="/home/claude/army_hack_work/kavach-crs/deck/icons/pac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3516782"/>
            <a:ext cx="382219" cy="382219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417320" y="3520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Submitting now (proof-of-concept)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68680" y="4069080"/>
            <a:ext cx="4754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CLI prototype implementing the full detect→reason→patch→verify loop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vulnerable target app + its autonomously-patched, test-passing counterpart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run ledger and a generated HTML forensic report (diffs, rationale, proof-of-fix)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217920" y="3246120"/>
            <a:ext cx="5422392" cy="2880360"/>
          </a:xfrm>
          <a:prstGeom prst="roundRect">
            <a:avLst>
              <a:gd name="adj" fmla="val 2540"/>
            </a:avLst>
          </a:prstGeom>
          <a:solidFill>
            <a:srgbClr val="141B2A"/>
          </a:solidFill>
          <a:ln/>
        </p:spPr>
      </p:sp>
      <p:sp>
        <p:nvSpPr>
          <p:cNvPr id="26" name="Shape 23"/>
          <p:cNvSpPr/>
          <p:nvPr/>
        </p:nvSpPr>
        <p:spPr>
          <a:xfrm>
            <a:off x="6446520" y="3456432"/>
            <a:ext cx="502920" cy="502920"/>
          </a:xfrm>
          <a:prstGeom prst="ellipse">
            <a:avLst/>
          </a:prstGeom>
          <a:solidFill>
            <a:srgbClr val="101726"/>
          </a:solidFill>
          <a:ln/>
        </p:spPr>
      </p:sp>
      <p:pic>
        <p:nvPicPr>
          <p:cNvPr id="27" name="Image 1" descr="/home/claude/army_hack_work/kavach-crs/deck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870" y="3516782"/>
            <a:ext cx="382219" cy="382219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086600" y="3520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Grand Finale roadmap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6537960" y="4069080"/>
            <a:ext cx="4892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a locally-hosted fine-tuned model as the reasoning backend for fully classified operation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language/framework coverage (Java, C++, Rust) and add CI/CD gate mode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against the simulated Armed Forces software environment; tune detectors to its stack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Ticketing/SIEM integration so verified fixes flow into existing change-management process</a:t>
            </a:r>
            <a:endParaRPr lang="en-US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KAVACH-CRS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2026-08-27T10:50:46Z</dcterms:created>
  <dcterms:modified xsi:type="dcterms:W3CDTF">2026-08-27T10:50:46Z</dcterms:modified>
</cp:coreProperties>
</file>